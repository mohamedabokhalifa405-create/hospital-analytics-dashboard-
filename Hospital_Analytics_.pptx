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62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53C4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1E3-4A43-BC33-1C998A65C230}"/>
              </c:ext>
            </c:extLst>
          </c:dPt>
          <c:dPt>
            <c:idx val="1"/>
            <c:bubble3D val="0"/>
            <c:spPr>
              <a:solidFill>
                <a:srgbClr val="BEAE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1E3-4A43-BC33-1C998A65C230}"/>
              </c:ext>
            </c:extLst>
          </c:dPt>
          <c:dPt>
            <c:idx val="2"/>
            <c:bubble3D val="0"/>
            <c:spPr>
              <a:solidFill>
                <a:srgbClr val="684C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1E3-4A43-BC33-1C998A65C230}"/>
              </c:ext>
            </c:extLst>
          </c:dPt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Scheduled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70.650000000000006</c:v>
                </c:pt>
                <c:pt idx="1">
                  <c:v>16.350000000000001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1E3-4A43-BC33-1C998A65C2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684C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F30-481B-9DE9-E4E95CE5F3A0}"/>
              </c:ext>
            </c:extLst>
          </c:dPt>
          <c:dPt>
            <c:idx val="1"/>
            <c:bubble3D val="0"/>
            <c:spPr>
              <a:solidFill>
                <a:srgbClr val="53C4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F30-481B-9DE9-E4E95CE5F3A0}"/>
              </c:ext>
            </c:extLst>
          </c:dPt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50.08</c:v>
                </c:pt>
                <c:pt idx="1">
                  <c:v>49.92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30-481B-9DE9-E4E95CE5F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53C4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802-4174-93CB-6F7443FE1FD3}"/>
              </c:ext>
            </c:extLst>
          </c:dPt>
          <c:dPt>
            <c:idx val="1"/>
            <c:bubble3D val="0"/>
            <c:spPr>
              <a:solidFill>
                <a:srgbClr val="BEAEF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802-4174-93CB-6F7443FE1FD3}"/>
              </c:ext>
            </c:extLst>
          </c:dPt>
          <c:dPt>
            <c:idx val="2"/>
            <c:bubble3D val="0"/>
            <c:spPr>
              <a:solidFill>
                <a:srgbClr val="684C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2802-4174-93CB-6F7443FE1FD3}"/>
              </c:ext>
            </c:extLst>
          </c:dPt>
          <c:cat>
            <c:strRef>
              <c:f>Sheet1!$A$2:$A$4</c:f>
              <c:strCache>
                <c:ptCount val="3"/>
                <c:pt idx="0">
                  <c:v>Completed</c:v>
                </c:pt>
                <c:pt idx="1">
                  <c:v>Scheduled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7065</c:v>
                </c:pt>
                <c:pt idx="1">
                  <c:v>1635</c:v>
                </c:pt>
                <c:pt idx="2">
                  <c:v>1300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802-4174-93CB-6F7443FE1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bubble3D val="0"/>
            <c:spPr>
              <a:solidFill>
                <a:srgbClr val="684C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6E0-43C8-B223-B585A80067B1}"/>
              </c:ext>
            </c:extLst>
          </c:dPt>
          <c:dPt>
            <c:idx val="1"/>
            <c:bubble3D val="0"/>
            <c:spPr>
              <a:solidFill>
                <a:srgbClr val="53C4B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6E0-43C8-B223-B585A80067B1}"/>
              </c:ext>
            </c:extLst>
          </c:dPt>
          <c:dPt>
            <c:idx val="2"/>
            <c:bubble3D val="0"/>
            <c:spPr>
              <a:solidFill>
                <a:srgbClr val="E097C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6E0-43C8-B223-B585A80067B1}"/>
              </c:ext>
            </c:extLst>
          </c:dPt>
          <c:cat>
            <c:strRef>
              <c:f>Sheet1!$A$2:$A$4</c:f>
              <c:strCache>
                <c:ptCount val="3"/>
                <c:pt idx="0">
                  <c:v>Cash</c:v>
                </c:pt>
                <c:pt idx="1">
                  <c:v>Insurance</c:v>
                </c:pt>
                <c:pt idx="2">
                  <c:v>Credit Card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35.75</c:v>
                </c:pt>
                <c:pt idx="1">
                  <c:v>35.340000000000003</c:v>
                </c:pt>
                <c:pt idx="2">
                  <c:v>28.91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6E0-43C8-B223-B585A80067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477256" y="-473294"/>
            <a:ext cx="4677241" cy="4572000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94360" y="640080"/>
            <a:ext cx="100584" cy="544068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143000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HOSPITAL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55648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EAEF6"/>
                </a:solidFill>
                <a:latin typeface="Aptos"/>
              </a:rPr>
              <a:t>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6517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Healthcare Data Analysis &amp; Business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15468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DC7E6"/>
                </a:solidFill>
                <a:latin typeface="Aptos"/>
              </a:rPr>
              <a:t>A management-ready analytics story built from the project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461772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24128" y="4617720"/>
            <a:ext cx="64008" cy="86868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" y="4782312"/>
            <a:ext cx="10515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684CD2"/>
                </a:solidFill>
                <a:latin typeface="Aptos"/>
              </a:rPr>
              <a:t>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5173126"/>
            <a:ext cx="9495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E1941"/>
                </a:solidFill>
                <a:latin typeface="Aptos"/>
              </a:rPr>
              <a:t>PATIENTS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14016" y="461772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14016" y="4617720"/>
            <a:ext cx="64008" cy="86868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15184" y="4782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52395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DOCTORS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03904" y="461772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803904" y="4617720"/>
            <a:ext cx="64008" cy="86868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05072" y="478231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5166360"/>
            <a:ext cx="10515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1941"/>
                </a:solidFill>
                <a:latin typeface="Aptos"/>
              </a:rPr>
              <a:t>APPOINTMENTS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93792" y="461772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193792" y="4617720"/>
            <a:ext cx="64008" cy="86868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94959" y="4782312"/>
            <a:ext cx="170718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 dirty="0">
                <a:solidFill>
                  <a:srgbClr val="684CD2"/>
                </a:solidFill>
                <a:latin typeface="Aptos"/>
              </a:rPr>
              <a:t>12.22M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5173126"/>
            <a:ext cx="153619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1E1941"/>
                </a:solidFill>
                <a:latin typeface="Aptos"/>
              </a:rPr>
              <a:t>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5806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DC7E6"/>
                </a:solidFill>
                <a:latin typeface="Aptos"/>
              </a:rPr>
              <a:t>POWER BI  •  DATA MODELING  •  POWER QUERY  •  DAX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01  •  PROJECT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From Hospital Data to Management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663440" cy="452628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4CD2"/>
                </a:solidFill>
                <a:latin typeface="Aptos"/>
              </a:rPr>
              <a:t>THE 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96843"/>
            <a:ext cx="42621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1E1941"/>
                </a:solidFill>
                <a:latin typeface="Aptos"/>
              </a:rPr>
              <a:t>Healthcare operations generate data across patients, doctors, appointments, payments and medical records.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46120"/>
            <a:ext cx="73152" cy="73152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1" y="3182112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Fragmented operational visibility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648456"/>
            <a:ext cx="73152" cy="73152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3584448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Hard to monitor appointment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050791"/>
            <a:ext cx="73152" cy="73152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3271" y="3986783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Revenue and payment trends need fast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453128"/>
            <a:ext cx="73152" cy="73152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4389120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Doctor workload and specialty demand need comparison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855464"/>
            <a:ext cx="73152" cy="73152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3271" y="4791456"/>
            <a:ext cx="3703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Medical-record patterns are difficult to scan manually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AEF6"/>
                </a:solidFill>
                <a:latin typeface="Aptos"/>
              </a:rPr>
              <a:t>THE ANALYTICS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0" y="224028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79008" y="2441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84CD2"/>
                </a:solidFill>
                <a:latin typeface="Aptos"/>
              </a:rPr>
              <a:t>RAW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9008" y="2807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1941"/>
                </a:solidFill>
                <a:latin typeface="Aptos"/>
              </a:rPr>
              <a:t>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24028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99248" y="2441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84CD2"/>
                </a:solidFill>
                <a:latin typeface="Aptos"/>
              </a:rP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807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1941"/>
                </a:solidFill>
                <a:latin typeface="Aptos"/>
              </a:rPr>
              <a:t>Power Query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24028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9488" y="24414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84CD2"/>
                </a:solidFill>
                <a:latin typeface="Aptos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19488" y="280720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1941"/>
                </a:solidFill>
                <a:latin typeface="Aptos"/>
              </a:rPr>
              <a:t>Relationships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379476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79008" y="39959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84CD2"/>
                </a:solidFill>
                <a:latin typeface="Aptos"/>
              </a:rPr>
              <a:t>ANALYZE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79008" y="4361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1941"/>
                </a:solidFill>
                <a:latin typeface="Aptos"/>
              </a:rPr>
              <a:t>DAX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3794760"/>
            <a:ext cx="16002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99248" y="39959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84CD2"/>
                </a:solidFill>
                <a:latin typeface="Aptos"/>
              </a:rPr>
              <a:t>DECIDE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43616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E1941"/>
                </a:solidFill>
                <a:latin typeface="Aptos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54406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Outcome: one visual management layer across the hospital.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02  •  WHAT THE DASHBOARD IS DESIGNED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75688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Monitor appointment volume, status and visit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6459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075688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Understand patient mix, age and blood-group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16459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PEOPLE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075688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Compare doctors, specialties and experience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347472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703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133087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Track revenue, payment volume and payment methods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4747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434840" y="347472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0872" y="3703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CLINICAL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133087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Explore diagnoses and medical-record distribution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7472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0" y="347472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5632" y="3703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4133087"/>
            <a:ext cx="2880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1941"/>
                </a:solidFill>
                <a:latin typeface="Aptos"/>
              </a:rPr>
              <a:t>Turn patterns into actionable management priorities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03  •  PROJECT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Data Model &amp; Core 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993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PATIENTS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95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Patient_ID  •  Gender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249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DOB / Age  •  Blood_Type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82880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41080" y="19933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DOCTORS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395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Doctor_ID  •  Specialty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3941" y="269109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Experience  •  Gender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14300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3075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APPOINTMENTS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7099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Appointment_ID  •  Patient_ID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03911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Doctor_ID  •  Date / Status  •  Visit_Type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429768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44622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86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Payment_ID  •  Appointment_ID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193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Patient_ID  •  Amount  •  Method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29768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18119" y="446227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MEDICAL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4864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Record_ID  •  Patient_ID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51937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E1941"/>
                </a:solidFill>
                <a:latin typeface="Aptos"/>
              </a:rPr>
              <a:t>Doctor_ID  •  Diagnosis  •  Record_Date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6299" y="2852928"/>
            <a:ext cx="2331720" cy="10515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2999232"/>
            <a:ext cx="1965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RELATIONSHIP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401568"/>
            <a:ext cx="1965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EAEF6"/>
                </a:solidFill>
                <a:latin typeface="Aptos"/>
              </a:rPr>
              <a:t>Patient • Doctor • Appointment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35040" y="2788920"/>
            <a:ext cx="3840480" cy="548640"/>
          </a:xfrm>
          <a:prstGeom prst="line">
            <a:avLst/>
          </a:prstGeom>
          <a:ln w="19050">
            <a:solidFill>
              <a:srgbClr val="BEAE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606040" y="3840480"/>
            <a:ext cx="3429000" cy="457200"/>
          </a:xfrm>
          <a:prstGeom prst="line">
            <a:avLst/>
          </a:prstGeom>
          <a:ln w="19050">
            <a:solidFill>
              <a:srgbClr val="BEAE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35040" y="3840480"/>
            <a:ext cx="3063240" cy="457200"/>
          </a:xfrm>
          <a:prstGeom prst="line">
            <a:avLst/>
          </a:prstGeom>
          <a:ln w="19050">
            <a:solidFill>
              <a:srgbClr val="BEAE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5806440" y="2651760"/>
            <a:ext cx="228600" cy="137160"/>
          </a:xfrm>
          <a:prstGeom prst="line">
            <a:avLst/>
          </a:prstGeom>
          <a:ln w="19050">
            <a:solidFill>
              <a:srgbClr val="BEAE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59893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DC7E6"/>
                </a:solidFill>
                <a:latin typeface="Aptos"/>
              </a:rPr>
              <a:t>The dashboard is built around the operational entities visible in the project: patients, doctors, appointments, payments and medical records.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04  •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Tools &amp; Analytics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96596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280160" y="2148840"/>
            <a:ext cx="777240" cy="777240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233172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4CD2"/>
                </a:solidFill>
                <a:latin typeface="Aptos"/>
              </a:rPr>
              <a:t>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1941"/>
                </a:solidFill>
                <a:latin typeface="Aptos"/>
              </a:rPr>
              <a:t>Interactive dashboard &amp; executive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874519"/>
            <a:ext cx="196596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547872" y="2148840"/>
            <a:ext cx="777240" cy="777240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233172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4CD2"/>
                </a:solidFill>
                <a:latin typeface="Aptos"/>
              </a:rPr>
              <a:t>POWER QUERY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1941"/>
                </a:solidFill>
                <a:latin typeface="Aptos"/>
              </a:rPr>
              <a:t>Cleaning, transformation and shaping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1874519"/>
            <a:ext cx="196596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15584" y="2148840"/>
            <a:ext cx="777240" cy="777240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15584" y="233172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4CD2"/>
                </a:solidFill>
                <a:latin typeface="Aptos"/>
              </a:rPr>
              <a:t>DAX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4104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1941"/>
                </a:solidFill>
                <a:latin typeface="Aptos"/>
              </a:rPr>
              <a:t>Measures and KPI calculations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874519"/>
            <a:ext cx="196596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083296" y="2148840"/>
            <a:ext cx="777240" cy="777240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83296" y="233172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5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4CD2"/>
                </a:solidFill>
                <a:latin typeface="Aptos"/>
              </a:rPr>
              <a:t>DATA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5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1941"/>
                </a:solidFill>
                <a:latin typeface="Aptos"/>
              </a:rPr>
              <a:t>Relationships and analytical 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1874519"/>
            <a:ext cx="1965960" cy="2606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351008" y="2148840"/>
            <a:ext cx="777240" cy="777240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351008" y="233172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39528" y="315468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4CD2"/>
                </a:solidFill>
                <a:latin typeface="Aptos"/>
              </a:rPr>
              <a:t>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356616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E1941"/>
                </a:solidFill>
                <a:latin typeface="Aptos"/>
              </a:rPr>
              <a:t>Source / working layer visible in the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The strongest part of the stack is the handoff: clean data → modeled entities → measures → decision-focused visuals.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05  •  FROM SOURCE TABLES TO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Data Preparation &amp; Modeling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6276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Hospital 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6276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16276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Types • blanks • structure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6304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6276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16276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TRANSFORM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Power Query steps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46304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00032" y="16276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93808" y="162763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00032" y="214884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Relationships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0332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" y="386791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8679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CALCULATE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DAX KPIs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70332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9312" y="386791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33087" y="38679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VISUALIZE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2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Power BI pages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70332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9672" y="386791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38679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INTERPRET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Insights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703320"/>
            <a:ext cx="2514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00032" y="386791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386791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43891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Management decisions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7607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C567"/>
                </a:solidFill>
                <a:latin typeface="Aptos"/>
              </a:rPr>
              <a:t>Quality checkpoint: validate row counts and relationship cardinality BEFORE trusting downstream KPIs.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06  •  SIX MANAGEMENT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Dashboard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2996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941"/>
                </a:solidFill>
                <a:latin typeface="Aptos"/>
              </a:rPr>
              <a:t>Executive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1941"/>
                </a:solidFill>
                <a:latin typeface="Aptos"/>
              </a:rPr>
              <a:t>5 KPI cards + status + visit type + monthly trend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716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PATIENTS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2996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941"/>
                </a:solidFill>
                <a:latin typeface="Aptos"/>
              </a:rPr>
              <a:t>Patient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9572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1941"/>
                </a:solidFill>
                <a:latin typeface="Aptos"/>
              </a:rPr>
              <a:t>Gender + age groups + monthly volume + blood type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37160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5544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5361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PAYMENTS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29967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941"/>
                </a:solidFill>
                <a:latin typeface="Aptos"/>
              </a:rPr>
              <a:t>Financial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9572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1941"/>
                </a:solidFill>
                <a:latin typeface="Aptos"/>
              </a:rPr>
              <a:t>Revenue + payment methods + monthly revenue + top doctors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8862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679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DOCTORS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616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941"/>
                </a:solidFill>
                <a:latin typeface="Aptos"/>
              </a:rPr>
              <a:t>Workforce 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2744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1941"/>
                </a:solidFill>
                <a:latin typeface="Aptos"/>
              </a:rPr>
              <a:t>Gender + specialty + experience + appointments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70332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38862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38679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APPOINTMENTS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3616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941"/>
                </a:solidFill>
                <a:latin typeface="Aptos"/>
              </a:rPr>
              <a:t>Operational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72744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1941"/>
                </a:solidFill>
                <a:latin typeface="Aptos"/>
              </a:rPr>
              <a:t>Status + visit type + yearly trend + specialty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3703320"/>
            <a:ext cx="347472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88620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867911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84CD2"/>
                </a:solidFill>
                <a:latin typeface="Aptos"/>
              </a:rPr>
              <a:t>MEDICAL RECORDS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3616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1941"/>
                </a:solidFill>
                <a:latin typeface="Aptos"/>
              </a:rPr>
              <a:t>Clinical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727448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1941"/>
                </a:solidFill>
                <a:latin typeface="Aptos"/>
              </a:rPr>
              <a:t>Records + patients + diagnoses + specialty + doctor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07  •  MANAGEMENT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Executive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64008" cy="105156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3716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98648" y="1371600"/>
            <a:ext cx="64008" cy="10515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99816" y="15361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19933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DOCTORS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3716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02936" y="1371600"/>
            <a:ext cx="64008" cy="10515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4104" y="15361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19933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APPOINTMENTS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3716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07224" y="1371600"/>
            <a:ext cx="64008" cy="105156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08392" y="15361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12.22M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19933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REVENUE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137160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811512" y="1371600"/>
            <a:ext cx="64008" cy="10515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12680" y="1536192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1.02K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199339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AVG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2788920"/>
            <a:ext cx="3657600" cy="25603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0392" y="3136391"/>
          <a:ext cx="2048256" cy="17922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2898648" y="326440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63240" y="3246120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438144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70.65%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98648" y="376732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63240" y="3749040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Scheduled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3941064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16.35%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98648" y="427024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63240" y="4251960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Cancelled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4443984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13.00%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2788920"/>
            <a:ext cx="3429000" cy="25603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983480" y="3433914"/>
            <a:ext cx="564642" cy="1384973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83480" y="4892040"/>
            <a:ext cx="5646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Follow-up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83480" y="3187026"/>
            <a:ext cx="56464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3,462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94426" y="3449116"/>
            <a:ext cx="564642" cy="1369771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94426" y="4892040"/>
            <a:ext cx="5646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New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94426" y="3202228"/>
            <a:ext cx="56464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3,424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5372" y="3996785"/>
            <a:ext cx="564642" cy="822102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5372" y="4892040"/>
            <a:ext cx="5646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Consult.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5372" y="3749897"/>
            <a:ext cx="56464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2,055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16318" y="4395235"/>
            <a:ext cx="564642" cy="423652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16318" y="4892040"/>
            <a:ext cx="56464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Emergency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16318" y="4148347"/>
            <a:ext cx="56464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1,059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2788920"/>
            <a:ext cx="3429000" cy="25603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641080" y="3108960"/>
            <a:ext cx="265176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641080" y="3672840"/>
            <a:ext cx="265176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641080" y="4236720"/>
            <a:ext cx="265176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641080" y="4800600"/>
            <a:ext cx="265176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" name="Connector 53"/>
          <p:cNvCxnSpPr/>
          <p:nvPr/>
        </p:nvCxnSpPr>
        <p:spPr>
          <a:xfrm>
            <a:off x="8641080" y="3922764"/>
            <a:ext cx="241069" cy="51638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8882149" y="3754943"/>
            <a:ext cx="241069" cy="219459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123218" y="3754943"/>
            <a:ext cx="241069" cy="64547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364287" y="3574212"/>
            <a:ext cx="241069" cy="245278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605356" y="3535484"/>
            <a:ext cx="241069" cy="38728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846425" y="3290207"/>
            <a:ext cx="241069" cy="245277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087494" y="3290207"/>
            <a:ext cx="241069" cy="38728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328563" y="3328935"/>
            <a:ext cx="241069" cy="77456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69632" y="3406391"/>
            <a:ext cx="241069" cy="619648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10810701" y="3987311"/>
            <a:ext cx="241069" cy="38728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11051770" y="3871127"/>
            <a:ext cx="241070" cy="116184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8609076" y="3890760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85048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Jan</a:t>
            </a:r>
          </a:p>
        </p:txBody>
      </p:sp>
      <p:sp>
        <p:nvSpPr>
          <p:cNvPr id="67" name="Oval 66"/>
          <p:cNvSpPr/>
          <p:nvPr/>
        </p:nvSpPr>
        <p:spPr>
          <a:xfrm>
            <a:off x="8850145" y="3942398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9091214" y="3722939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9332283" y="3787486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108255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Apr</a:t>
            </a:r>
          </a:p>
        </p:txBody>
      </p:sp>
      <p:sp>
        <p:nvSpPr>
          <p:cNvPr id="71" name="Oval 70"/>
          <p:cNvSpPr/>
          <p:nvPr/>
        </p:nvSpPr>
        <p:spPr>
          <a:xfrm>
            <a:off x="9573352" y="3542208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9814421" y="3503480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0055490" y="3258203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831462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Jul</a:t>
            </a:r>
          </a:p>
        </p:txBody>
      </p:sp>
      <p:sp>
        <p:nvSpPr>
          <p:cNvPr id="75" name="Oval 74"/>
          <p:cNvSpPr/>
          <p:nvPr/>
        </p:nvSpPr>
        <p:spPr>
          <a:xfrm>
            <a:off x="10296559" y="3296931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0537628" y="3374387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0778697" y="3994035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554669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Oct</a:t>
            </a:r>
          </a:p>
        </p:txBody>
      </p:sp>
      <p:sp>
        <p:nvSpPr>
          <p:cNvPr id="79" name="Oval 78"/>
          <p:cNvSpPr/>
          <p:nvPr/>
        </p:nvSpPr>
        <p:spPr>
          <a:xfrm>
            <a:off x="11019766" y="3955307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260836" y="3839123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1036808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Dec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" y="5623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READOUT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00200" y="555955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The dashboard points to a high-volume operational environment, with completed visits dominating appointment status and revenue reaching 12.22M.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626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08  •  PATIENT PROFILE &amp;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Patients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933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37160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63240" y="137160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4408" y="15361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2,504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9933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MALE PATIENTS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37160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32120" y="137160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3288" y="15361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2,496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19933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FEMALE PATIENTS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371600"/>
            <a:ext cx="228600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01000" y="137160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8" y="1536192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47.75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993392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AVERAGE 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4973" y="2892247"/>
            <a:ext cx="3657600" cy="274320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50392" y="2999232"/>
          <a:ext cx="2048256" cy="1920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2898648" y="312724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63240" y="3108960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Female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3300984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50.08%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98648" y="363016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63240" y="3611879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803904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49.92%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5909" y="2841359"/>
            <a:ext cx="3579876" cy="2898648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983480" y="3170682"/>
            <a:ext cx="203454" cy="1693925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80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O+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2923794"/>
            <a:ext cx="74980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1,900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3238" y="3482721"/>
            <a:ext cx="203454" cy="1381887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33238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A+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33238" y="3235833"/>
            <a:ext cx="60620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1,550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82996" y="4329684"/>
            <a:ext cx="203454" cy="534924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82996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O-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82996" y="3730752"/>
            <a:ext cx="60620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600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2754" y="4418838"/>
            <a:ext cx="203454" cy="44577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32754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B+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2753" y="3984221"/>
            <a:ext cx="48504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500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82512" y="4552569"/>
            <a:ext cx="203454" cy="312039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82512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A-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1" y="4186809"/>
            <a:ext cx="47091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350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32270" y="4704130"/>
            <a:ext cx="203454" cy="160477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32270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AB+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32270" y="4263847"/>
            <a:ext cx="47091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180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2028" y="4757623"/>
            <a:ext cx="203454" cy="106984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082028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B-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2028" y="4302162"/>
            <a:ext cx="47091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120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31786" y="4784369"/>
            <a:ext cx="203454" cy="80238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31786" y="4937760"/>
            <a:ext cx="20345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AB-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31785" y="4455553"/>
            <a:ext cx="45399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90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92439" y="2880360"/>
            <a:ext cx="3364993" cy="274320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595360" y="297180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595360" y="359664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595360" y="422148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595360" y="484632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58"/>
          <p:cNvCxnSpPr/>
          <p:nvPr/>
        </p:nvCxnSpPr>
        <p:spPr>
          <a:xfrm>
            <a:off x="8595360" y="3243861"/>
            <a:ext cx="236912" cy="35610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32272" y="3261666"/>
            <a:ext cx="236913" cy="17805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069185" y="3261666"/>
            <a:ext cx="236913" cy="71221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9306098" y="3315082"/>
            <a:ext cx="236912" cy="17805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543010" y="3297277"/>
            <a:ext cx="236913" cy="17805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779923" y="3172641"/>
            <a:ext cx="236913" cy="124636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016836" y="3172641"/>
            <a:ext cx="236913" cy="142441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253749" y="3315082"/>
            <a:ext cx="236912" cy="89025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490661" y="3404107"/>
            <a:ext cx="236913" cy="35610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0727574" y="3439717"/>
            <a:ext cx="236913" cy="71221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10964487" y="3350692"/>
            <a:ext cx="236913" cy="160246"/>
          </a:xfrm>
          <a:prstGeom prst="line">
            <a:avLst/>
          </a:prstGeom>
          <a:ln w="31750">
            <a:solidFill>
              <a:srgbClr val="53C4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8563356" y="3211857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9328" y="491947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Jan</a:t>
            </a:r>
          </a:p>
        </p:txBody>
      </p:sp>
      <p:sp>
        <p:nvSpPr>
          <p:cNvPr id="72" name="Oval 71"/>
          <p:cNvSpPr/>
          <p:nvPr/>
        </p:nvSpPr>
        <p:spPr>
          <a:xfrm>
            <a:off x="8800268" y="3247467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9037181" y="3229662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274094" y="3300883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0066" y="491947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Apr</a:t>
            </a:r>
          </a:p>
        </p:txBody>
      </p:sp>
      <p:sp>
        <p:nvSpPr>
          <p:cNvPr id="76" name="Oval 75"/>
          <p:cNvSpPr/>
          <p:nvPr/>
        </p:nvSpPr>
        <p:spPr>
          <a:xfrm>
            <a:off x="9511006" y="3283078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747919" y="3265273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984832" y="3140637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0804" y="491947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Jul</a:t>
            </a:r>
          </a:p>
        </p:txBody>
      </p:sp>
      <p:sp>
        <p:nvSpPr>
          <p:cNvPr id="80" name="Oval 79"/>
          <p:cNvSpPr/>
          <p:nvPr/>
        </p:nvSpPr>
        <p:spPr>
          <a:xfrm>
            <a:off x="10221745" y="3283078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458657" y="3372103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695570" y="3407713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71542" y="491947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Oct</a:t>
            </a:r>
          </a:p>
        </p:txBody>
      </p:sp>
      <p:sp>
        <p:nvSpPr>
          <p:cNvPr id="84" name="Oval 83"/>
          <p:cNvSpPr/>
          <p:nvPr/>
        </p:nvSpPr>
        <p:spPr>
          <a:xfrm>
            <a:off x="10932483" y="3478934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1169396" y="3318688"/>
            <a:ext cx="64008" cy="64008"/>
          </a:xfrm>
          <a:prstGeom prst="ellipse">
            <a:avLst/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945368" y="491947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Dec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571500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Patient gender is almost perfectly balanced (50.08% female / 49.92% male). O+ is the most represented blood group in the visible dashboard.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09  •  WORKFORCE + OPERATIONAL DEMAND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Doctors &amp; Appointments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4008" cy="91440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DOCTORS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3258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88920" y="1325880"/>
            <a:ext cx="64008" cy="91440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0088" y="1490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19476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MALE DOCTORS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3258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983480" y="1325880"/>
            <a:ext cx="64008" cy="914400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84648" y="1490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19476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FEMALE DOCTORS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3258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78040" y="1325880"/>
            <a:ext cx="64008" cy="91440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79208" y="14904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17.30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9208" y="194767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AVG EXPERIENCE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32588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372600" y="1325880"/>
            <a:ext cx="64008" cy="914400"/>
          </a:xfrm>
          <a:prstGeom prst="roundRect">
            <a:avLst>
              <a:gd name="adj" fmla="val 12000"/>
            </a:avLst>
          </a:prstGeom>
          <a:solidFill>
            <a:srgbClr val="73B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73768" y="1490472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7,065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1947672"/>
            <a:ext cx="18745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COMPLETED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0" y="2651559"/>
            <a:ext cx="4565865" cy="3063441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97280" y="3127248"/>
            <a:ext cx="109728" cy="164592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828" y="4836141"/>
            <a:ext cx="95234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Internal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79" y="2807208"/>
            <a:ext cx="365761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12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53312" y="3264408"/>
            <a:ext cx="109728" cy="15087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235" y="4838464"/>
            <a:ext cx="1014796" cy="21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General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3311" y="2983024"/>
            <a:ext cx="33832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11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9344" y="3401568"/>
            <a:ext cx="109728" cy="137160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85898" y="4878202"/>
            <a:ext cx="84124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 err="1">
                <a:solidFill>
                  <a:srgbClr val="1E1941"/>
                </a:solidFill>
                <a:latin typeface="Aptos"/>
              </a:rPr>
              <a:t>Oph</a:t>
            </a:r>
            <a:r>
              <a:rPr lang="en-US" sz="750" b="1" dirty="0" err="1">
                <a:solidFill>
                  <a:srgbClr val="1E1941"/>
                </a:solidFill>
                <a:latin typeface="Aptos"/>
              </a:rPr>
              <a:t>h</a:t>
            </a:r>
            <a:r>
              <a:rPr sz="750" b="1" i="0" dirty="0" err="1">
                <a:solidFill>
                  <a:srgbClr val="1E1941"/>
                </a:solidFill>
                <a:latin typeface="Aptos"/>
              </a:rPr>
              <a:t>tal</a:t>
            </a:r>
            <a:r>
              <a:rPr sz="750" b="1" i="0" dirty="0">
                <a:solidFill>
                  <a:srgbClr val="1E1941"/>
                </a:solidFill>
                <a:latin typeface="Apto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9344" y="3081528"/>
            <a:ext cx="51206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65376" y="3538728"/>
            <a:ext cx="109728" cy="1234439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926266" y="4889132"/>
            <a:ext cx="85937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Oncology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5375" y="3291840"/>
            <a:ext cx="52425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21408" y="3813048"/>
            <a:ext cx="109728" cy="960119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15066" y="4896489"/>
            <a:ext cx="85038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Emergency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21408" y="3499589"/>
            <a:ext cx="25603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77440" y="3813048"/>
            <a:ext cx="109728" cy="960119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972906" y="4878202"/>
            <a:ext cx="117957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Radiology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3572742"/>
            <a:ext cx="18425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33472" y="3813048"/>
            <a:ext cx="109728" cy="960119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53314" y="4892810"/>
            <a:ext cx="120389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Cardiology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33472" y="3566160"/>
            <a:ext cx="109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89504" y="3950207"/>
            <a:ext cx="109728" cy="8229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433669" y="5486400"/>
            <a:ext cx="85019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9504" y="3703319"/>
            <a:ext cx="109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45536" y="3950207"/>
            <a:ext cx="109728" cy="8229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50694" y="5211719"/>
            <a:ext cx="92353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Pediatrics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45536" y="3703319"/>
            <a:ext cx="109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01568" y="3950207"/>
            <a:ext cx="109728" cy="82296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49989" y="5389764"/>
            <a:ext cx="838138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Dermatology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01568" y="3703319"/>
            <a:ext cx="109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0" y="4087368"/>
            <a:ext cx="109728" cy="68580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83273" y="4893568"/>
            <a:ext cx="814004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Neurology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3840479"/>
            <a:ext cx="109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3632" y="4224528"/>
            <a:ext cx="109728" cy="54864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13632" y="4828030"/>
            <a:ext cx="1069842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Psychiatry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3632" y="3977639"/>
            <a:ext cx="1097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54294" y="2560319"/>
            <a:ext cx="3285747" cy="3063441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4736592" y="2907791"/>
          <a:ext cx="1817827" cy="19202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6525615" y="303580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90207" y="3017520"/>
            <a:ext cx="100629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Completed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90207" y="3209544"/>
            <a:ext cx="100629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7065.00%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25615" y="353872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690207" y="3520440"/>
            <a:ext cx="100629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Scheduled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90207" y="3712464"/>
            <a:ext cx="100629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1635.00%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25615" y="404164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90207" y="4023360"/>
            <a:ext cx="100629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Cancelled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0207" y="4215384"/>
            <a:ext cx="100629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1300.00%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75829" y="2560319"/>
            <a:ext cx="3850879" cy="3060353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8458200" y="3229912"/>
            <a:ext cx="598931" cy="1543255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458200" y="4846320"/>
            <a:ext cx="5989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 dirty="0">
                <a:solidFill>
                  <a:srgbClr val="1E1941"/>
                </a:solidFill>
                <a:latin typeface="Aptos"/>
              </a:rPr>
              <a:t>Follow-up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58200" y="2983024"/>
            <a:ext cx="5989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3,462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203436" y="3246851"/>
            <a:ext cx="598931" cy="1526316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203436" y="4846320"/>
            <a:ext cx="5989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New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03436" y="2999963"/>
            <a:ext cx="5989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3,424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948672" y="3857110"/>
            <a:ext cx="598931" cy="916057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948672" y="4846320"/>
            <a:ext cx="5989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Consult.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948672" y="3610222"/>
            <a:ext cx="5989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2,055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693908" y="4301097"/>
            <a:ext cx="598931" cy="47207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693908" y="4846320"/>
            <a:ext cx="5989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Emergency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93908" y="4054209"/>
            <a:ext cx="5989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1941"/>
                </a:solidFill>
                <a:latin typeface="Aptos"/>
              </a:rPr>
              <a:t>1,059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ptos"/>
              </a:rPr>
              <a:t>Operational signal: completed appointments dominate the status mix, while follow-up and new visits are the two largest visit types.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10  •  FINANCIAL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Payments &amp; Revenue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12.22M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REVENUE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32588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1800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72968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PAYMENTS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132588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349240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50407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1.02K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0407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AVERAGE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32588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26679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7848" y="14904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2.00K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194767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MAX PAYMENT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697480"/>
            <a:ext cx="3794760" cy="26517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850392" y="3044952"/>
          <a:ext cx="2125065" cy="18562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2985058" y="317296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49650" y="3154680"/>
            <a:ext cx="1176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9650" y="3346704"/>
            <a:ext cx="1176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35.75%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85058" y="367588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49650" y="3657600"/>
            <a:ext cx="1176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Insurance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49650" y="3849624"/>
            <a:ext cx="1176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35.34%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85058" y="4178808"/>
            <a:ext cx="100584" cy="100584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49650" y="4160520"/>
            <a:ext cx="1176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Credit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9650" y="4352544"/>
            <a:ext cx="117637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E1941"/>
                </a:solidFill>
                <a:latin typeface="Aptos"/>
              </a:rPr>
              <a:t>28.91%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2697480"/>
            <a:ext cx="3383280" cy="26517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20640" y="301752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120640" y="361188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20640" y="420624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20640" y="4800600"/>
            <a:ext cx="2606040" cy="10972"/>
          </a:xfrm>
          <a:prstGeom prst="rect">
            <a:avLst/>
          </a:prstGeom>
          <a:solidFill>
            <a:srgbClr val="CDC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5120640" y="3918526"/>
            <a:ext cx="236912" cy="107570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357552" y="3810956"/>
            <a:ext cx="236913" cy="215140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94465" y="3810956"/>
            <a:ext cx="236913" cy="64542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831378" y="3746414"/>
            <a:ext cx="236912" cy="129084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6068290" y="3671115"/>
            <a:ext cx="236913" cy="75299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305203" y="3208564"/>
            <a:ext cx="236913" cy="462551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542116" y="3208564"/>
            <a:ext cx="236913" cy="32271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79029" y="3240835"/>
            <a:ext cx="236912" cy="322710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015941" y="3563545"/>
            <a:ext cx="236913" cy="613149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7252854" y="4155180"/>
            <a:ext cx="236913" cy="21514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7489767" y="4047610"/>
            <a:ext cx="236912" cy="107570"/>
          </a:xfrm>
          <a:prstGeom prst="line">
            <a:avLst/>
          </a:prstGeom>
          <a:ln w="31750">
            <a:solidFill>
              <a:srgbClr val="684C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088636" y="3886522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64607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Jan</a:t>
            </a:r>
          </a:p>
        </p:txBody>
      </p:sp>
      <p:sp>
        <p:nvSpPr>
          <p:cNvPr id="50" name="Oval 49"/>
          <p:cNvSpPr/>
          <p:nvPr/>
        </p:nvSpPr>
        <p:spPr>
          <a:xfrm>
            <a:off x="5325548" y="3994092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5562461" y="3778952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5799374" y="3843494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75346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Apr</a:t>
            </a:r>
          </a:p>
        </p:txBody>
      </p:sp>
      <p:sp>
        <p:nvSpPr>
          <p:cNvPr id="54" name="Oval 53"/>
          <p:cNvSpPr/>
          <p:nvPr/>
        </p:nvSpPr>
        <p:spPr>
          <a:xfrm>
            <a:off x="6036286" y="3714410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273199" y="3639111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6510112" y="3176560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86084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Jul</a:t>
            </a:r>
          </a:p>
        </p:txBody>
      </p:sp>
      <p:sp>
        <p:nvSpPr>
          <p:cNvPr id="58" name="Oval 57"/>
          <p:cNvSpPr/>
          <p:nvPr/>
        </p:nvSpPr>
        <p:spPr>
          <a:xfrm>
            <a:off x="6747025" y="3208831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6983937" y="3531541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220850" y="4144690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996822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Oct</a:t>
            </a:r>
          </a:p>
        </p:txBody>
      </p:sp>
      <p:sp>
        <p:nvSpPr>
          <p:cNvPr id="62" name="Oval 61"/>
          <p:cNvSpPr/>
          <p:nvPr/>
        </p:nvSpPr>
        <p:spPr>
          <a:xfrm>
            <a:off x="7457763" y="4123176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7694675" y="4015606"/>
            <a:ext cx="64008" cy="64008"/>
          </a:xfrm>
          <a:prstGeom prst="ellipse">
            <a:avLst/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470648" y="4873752"/>
            <a:ext cx="5120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1E1941"/>
                </a:solidFill>
                <a:latin typeface="Aptos"/>
              </a:rPr>
              <a:t>Dec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83879" y="2697480"/>
            <a:ext cx="3337560" cy="265176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0" y="3017520"/>
            <a:ext cx="82296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Cash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55480" y="3090672"/>
            <a:ext cx="1548821" cy="362711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1150021" y="3044952"/>
            <a:ext cx="640080" cy="472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3581400"/>
            <a:ext cx="82296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Insurance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555480" y="3654552"/>
            <a:ext cx="1531100" cy="362711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1132300" y="3608832"/>
            <a:ext cx="640080" cy="472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686800" y="4145280"/>
            <a:ext cx="82296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Credit Card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55480" y="4218432"/>
            <a:ext cx="1251107" cy="362711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852307" y="4172712"/>
            <a:ext cx="640080" cy="472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Revenue is broadly diversified across payment methods: Cash 35.75%, Insurance 35.34%, Credit Card 28.91%. The monthly curve peaks around July–August.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11  •  CLINICAL DATA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Medical Records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4767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TOTAL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32588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63240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4408" y="149047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3,145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194767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PATIENTS WITH RECORDS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132588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32120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3288" y="149047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33288" y="194767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UNIQUE DIAGNOSES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325880"/>
            <a:ext cx="2331720" cy="96012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01000" y="1325880"/>
            <a:ext cx="64008" cy="960120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02168" y="149047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684CD2"/>
                </a:solidFill>
                <a:latin typeface="Apto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1947672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1941"/>
                </a:solidFill>
                <a:latin typeface="Aptos"/>
              </a:rPr>
              <a:t>DOCTORS WITH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697480"/>
            <a:ext cx="4846320" cy="2697480"/>
          </a:xfrm>
          <a:prstGeom prst="roundRect">
            <a:avLst>
              <a:gd name="adj" fmla="val 12000"/>
            </a:avLst>
          </a:prstGeom>
          <a:solidFill>
            <a:srgbClr val="F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301752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Internal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65960" y="3090672"/>
            <a:ext cx="2617543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29223" y="304495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580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16230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General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65960" y="3235452"/>
            <a:ext cx="2527283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38963" y="318973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560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30708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Ophthalmology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3380232"/>
            <a:ext cx="2030852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42532" y="333451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450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345186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Oncology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3525012"/>
            <a:ext cx="1895462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07142" y="347929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420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59664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Radiology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3669792"/>
            <a:ext cx="1534422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46102" y="362407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340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374142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Emergency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65960" y="3814572"/>
            <a:ext cx="1489292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00972" y="376885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330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388620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Cardiology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65960" y="3959352"/>
            <a:ext cx="1444162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55842" y="391363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320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403098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65960" y="4104132"/>
            <a:ext cx="1353901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365581" y="405841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300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" y="417576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Dermatology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65960" y="4248912"/>
            <a:ext cx="1308771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320451" y="420319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290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432054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Pediatrics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4393692"/>
            <a:ext cx="1263641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75321" y="434797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280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446532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Neurology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65960" y="4538472"/>
            <a:ext cx="1218511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30191" y="449275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270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" y="4610100"/>
            <a:ext cx="822960" cy="7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Psychiatry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965960" y="4683252"/>
            <a:ext cx="947731" cy="0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59411" y="4637532"/>
            <a:ext cx="640080" cy="53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E1941"/>
                </a:solidFill>
                <a:latin typeface="Aptos"/>
              </a:rPr>
              <a:t>210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715000" y="2697480"/>
            <a:ext cx="580644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989320" y="2971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DIAGNOSIS LANDSCAPE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89320" y="3474720"/>
            <a:ext cx="1492623" cy="475488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62472" y="3593591"/>
            <a:ext cx="13554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Gastroenteritis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527663" y="3474720"/>
            <a:ext cx="1343361" cy="475488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600815" y="3593591"/>
            <a:ext cx="120620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Asthma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16744" y="3474720"/>
            <a:ext cx="1119467" cy="475488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989896" y="3593591"/>
            <a:ext cx="98230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Sinusitis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89320" y="4069080"/>
            <a:ext cx="1074688" cy="475488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62472" y="4187952"/>
            <a:ext cx="9375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Common Cold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109728" y="4069080"/>
            <a:ext cx="925426" cy="475488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182880" y="4187952"/>
            <a:ext cx="7882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Conjunctivitis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80875" y="4069080"/>
            <a:ext cx="895574" cy="475488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154027" y="4187952"/>
            <a:ext cx="75841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Pneumonia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22169" y="4069080"/>
            <a:ext cx="835869" cy="475488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95321" y="4187952"/>
            <a:ext cx="69870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Migraine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903758" y="4069080"/>
            <a:ext cx="776164" cy="475488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76910" y="4187952"/>
            <a:ext cx="6390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Influenza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89320" y="4663440"/>
            <a:ext cx="746311" cy="475488"/>
          </a:xfrm>
          <a:prstGeom prst="roundRect">
            <a:avLst>
              <a:gd name="adj" fmla="val 12000"/>
            </a:avLst>
          </a:prstGeom>
          <a:solidFill>
            <a:srgbClr val="53C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062472" y="4782312"/>
            <a:ext cx="60915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Osteoarthritis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781351" y="4663440"/>
            <a:ext cx="716459" cy="475488"/>
          </a:xfrm>
          <a:prstGeom prst="roundRect">
            <a:avLst>
              <a:gd name="adj" fmla="val 12000"/>
            </a:avLst>
          </a:prstGeom>
          <a:solidFill>
            <a:srgbClr val="684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54503" y="4782312"/>
            <a:ext cx="57929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Anxiety Disorder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43531" y="4663440"/>
            <a:ext cx="671680" cy="475488"/>
          </a:xfrm>
          <a:prstGeom prst="roundRect">
            <a:avLst>
              <a:gd name="adj" fmla="val 12000"/>
            </a:avLst>
          </a:prstGeom>
          <a:solidFill>
            <a:srgbClr val="E097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616683" y="4782312"/>
            <a:ext cx="534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Depression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60931" y="4663440"/>
            <a:ext cx="656754" cy="475488"/>
          </a:xfrm>
          <a:prstGeom prst="roundRect">
            <a:avLst>
              <a:gd name="adj" fmla="val 12000"/>
            </a:avLst>
          </a:prstGeom>
          <a:solidFill>
            <a:srgbClr val="BEA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334083" y="4782312"/>
            <a:ext cx="51959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Aptos"/>
              </a:rPr>
              <a:t>Hypertension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Clinical records cover all 100 doctors and 3,145 patients; the dashboard identifies 20 distinct diagnoses.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12  •  WHAT THE NUMBERS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Key Business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149047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63039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HIGH OPERATIONAL THROUGHPUT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10K appointments are represented in the dashboard, with 7,065 marked completed.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149047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39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FOLLOW-UP + NEW DOMINATE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92807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Follow-up (34.62%) and New (34.24%) together form the largest visit-type share.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98648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0632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035808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BALANCED PATIENT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46557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Gender split is essentially even: 2,504 male vs 2,496 female.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98648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528" y="30632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035808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REVENUE IS DIVERSIFIED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65576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No single payment method dominates: cash and insurance are nearly tied.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71416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528" y="4636007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608576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MID-YEAR REVENUE PEAK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038344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The visible revenue trend rises strongly around July–August before dropping in Q4.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71416"/>
            <a:ext cx="52578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4636007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84CD2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608576"/>
            <a:ext cx="4160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84CD2"/>
                </a:solidFill>
                <a:latin typeface="Aptos"/>
              </a:rPr>
              <a:t>CLINICAL COVERAGE IS BROAD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038344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1941"/>
                </a:solidFill>
                <a:latin typeface="Aptos"/>
              </a:rPr>
              <a:t>3,145 patients have records, spanning 20 diagnoses and all 100 doctors.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13  •  FROM INSIGHT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Management Recommendations &amp;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4747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4CD2"/>
                </a:solidFill>
                <a:latin typeface="Aptos"/>
              </a:rPr>
              <a:t>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941"/>
                </a:solidFill>
                <a:latin typeface="Aptos"/>
              </a:rPr>
              <a:t>Use appointment and specialty demand to align staffing with high-volume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71600"/>
            <a:ext cx="34747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600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4CD2"/>
                </a:solidFill>
                <a:latin typeface="Aptos"/>
              </a:rPr>
              <a:t>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84832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941"/>
                </a:solidFill>
                <a:latin typeface="Aptos"/>
              </a:rPr>
              <a:t>Monitor cancellations and scheduled visits to improve utilization and patient 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71600"/>
            <a:ext cx="34747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6002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4CD2"/>
                </a:solidFill>
                <a:latin typeface="Aptos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2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941"/>
                </a:solidFill>
                <a:latin typeface="Aptos"/>
              </a:rPr>
              <a:t>Track payment-method mix and monthly peaks for forecasting and cash-flow planning.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20440"/>
            <a:ext cx="34747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74903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4CD2"/>
                </a:solidFill>
                <a:latin typeface="Aptos"/>
              </a:rPr>
              <a:t>WORKFORCE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233672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941"/>
                </a:solidFill>
                <a:latin typeface="Aptos"/>
              </a:rPr>
              <a:t>Compare doctor workload with specialty demand to support allocation decisions.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20440"/>
            <a:ext cx="34747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74903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4CD2"/>
                </a:solidFill>
                <a:latin typeface="Aptos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33672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941"/>
                </a:solidFill>
                <a:latin typeface="Aptos"/>
              </a:rPr>
              <a:t>Use diagnosis patterns to inform service planning and resource readiness.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3520440"/>
            <a:ext cx="34747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3749039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84CD2"/>
                </a:solidFill>
                <a:latin typeface="Aptos"/>
              </a:rPr>
              <a:t>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233672"/>
            <a:ext cx="2971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1941"/>
                </a:solidFill>
                <a:latin typeface="Aptos"/>
              </a:rPr>
              <a:t>Validate row counts and relationship logic before publishing KPI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235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BUSINESS 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5559552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Faster reporting  •  clearer operational visibility  •  better resource allocation  •  data-driven management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1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AEF6"/>
                </a:solidFill>
                <a:latin typeface="Aptos"/>
              </a:rPr>
              <a:t>14  • 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HOSPITAL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48840"/>
            <a:ext cx="7498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EAEF6"/>
                </a:solidFill>
                <a:latin typeface="Aptos"/>
              </a:rPr>
              <a:t>One dashboard. Five core data domains. One management 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154680"/>
            <a:ext cx="1874519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3310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84CD2"/>
                </a:solidFill>
                <a:latin typeface="Aptos"/>
              </a:rPr>
              <a:t>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3154680"/>
            <a:ext cx="1874519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71800" y="3310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84CD2"/>
                </a:solidFill>
                <a:latin typeface="Aptos"/>
              </a:rPr>
              <a:t>DOCTORS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47488" y="3154680"/>
            <a:ext cx="1874519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3310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84CD2"/>
                </a:solidFill>
                <a:latin typeface="Aptos"/>
              </a:rPr>
              <a:t>APPOINTMENTS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6328" y="3154680"/>
            <a:ext cx="1874519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3310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84CD2"/>
                </a:solidFill>
                <a:latin typeface="Aptos"/>
              </a:rPr>
              <a:t>PAYMENTS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45168" y="3154680"/>
            <a:ext cx="1874519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33101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84CD2"/>
                </a:solidFill>
                <a:latin typeface="Aptos"/>
              </a:rPr>
              <a:t>MEDICAL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2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Aptos"/>
              </a:rPr>
              <a:t>The project demonstrates how structured healthcare data can be transformed into a practical BI layer for monitoring performance, discovering patterns and supporting better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EAEF6"/>
                </a:solidFill>
                <a:latin typeface="Aptos"/>
              </a:rP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0533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DC7E6"/>
                </a:solidFill>
                <a:latin typeface="Aptos"/>
              </a:rPr>
              <a:t>Hospital Analytics  •  Power BI Business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DC7E6"/>
                </a:solidFill>
                <a:latin typeface="Aptos"/>
              </a:rPr>
              <a:t>HOSPITAL ANALYTICS  •  BUSINESS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92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CDC7E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1255</Words>
  <Application>Microsoft Office PowerPoint</Application>
  <PresentationFormat>Widescreen</PresentationFormat>
  <Paragraphs>413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2026-08-13T04:15:59Z</dcterms:modified>
  <cp:category/>
</cp:coreProperties>
</file>